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89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973568" y="0"/>
            <a:ext cx="4215384" cy="6858000"/>
          </a:xfrm>
          <a:prstGeom prst="rect">
            <a:avLst/>
          </a:prstGeom>
          <a:solidFill>
            <a:srgbClr val="F0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705088" y="749808"/>
            <a:ext cx="2697480" cy="2697480"/>
          </a:xfrm>
          <a:prstGeom prst="ellipse">
            <a:avLst/>
          </a:prstGeom>
          <a:solidFill>
            <a:srgbClr val="E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290304" y="1335024"/>
            <a:ext cx="1536192" cy="1536192"/>
          </a:xfrm>
          <a:prstGeom prst="ellipse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796528" y="2468880"/>
            <a:ext cx="2697480" cy="2606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9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89720" y="4114800"/>
            <a:ext cx="219456" cy="502920"/>
          </a:xfrm>
          <a:prstGeom prst="roundRect">
            <a:avLst/>
          </a:prstGeom>
          <a:solidFill>
            <a:srgbClr val="B98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601200" y="3776472"/>
            <a:ext cx="219456" cy="841248"/>
          </a:xfrm>
          <a:prstGeom prst="roundRect">
            <a:avLst/>
          </a:prstGeom>
          <a:solidFill>
            <a:srgbClr val="66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012680" y="3383279"/>
            <a:ext cx="219456" cy="1234440"/>
          </a:xfrm>
          <a:prstGeom prst="roundRect">
            <a:avLst/>
          </a:prstGeom>
          <a:solidFill>
            <a:srgbClr val="577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24160" y="3867911"/>
            <a:ext cx="219456" cy="749808"/>
          </a:xfrm>
          <a:prstGeom prst="roundRect">
            <a:avLst/>
          </a:prstGeom>
          <a:solidFill>
            <a:srgbClr val="B98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" y="658368"/>
            <a:ext cx="457200" cy="457200"/>
          </a:xfrm>
          <a:prstGeom prst="roundRect">
            <a:avLst/>
          </a:prstGeom>
          <a:solidFill>
            <a:srgbClr val="66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71323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Georgia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740664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30251E"/>
                </a:solidFill>
                <a:latin typeface="Aptos"/>
              </a:rPr>
              <a:t>ARTEMIS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1609344"/>
            <a:ext cx="2514600" cy="310896"/>
          </a:xfrm>
          <a:prstGeom prst="roundRect">
            <a:avLst/>
          </a:prstGeom>
          <a:solidFill>
            <a:srgbClr val="EA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" y="1664208"/>
            <a:ext cx="2368296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dirty="0">
                <a:solidFill>
                  <a:srgbClr val="57715F"/>
                </a:solidFill>
                <a:latin typeface="Aptos"/>
              </a:rPr>
              <a:t>PROJETO DE </a:t>
            </a:r>
            <a:r>
              <a:rPr lang="pt-BR" sz="900" b="1" dirty="0">
                <a:solidFill>
                  <a:srgbClr val="57715F"/>
                </a:solidFill>
                <a:latin typeface="Aptos"/>
              </a:rPr>
              <a:t>DESENVOLVIMENTO 2</a:t>
            </a:r>
            <a:r>
              <a:rPr sz="900" b="1" dirty="0">
                <a:solidFill>
                  <a:srgbClr val="57715F"/>
                </a:solidFill>
                <a:latin typeface="Aptos"/>
              </a:rPr>
              <a:t> • MVP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194560"/>
            <a:ext cx="6766560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800" b="1" dirty="0">
                <a:solidFill>
                  <a:srgbClr val="30251E"/>
                </a:solidFill>
                <a:latin typeface="Georgia"/>
              </a:rPr>
              <a:t>Mais tempo </a:t>
            </a:r>
            <a:r>
              <a:rPr sz="3800" b="1" dirty="0" err="1">
                <a:solidFill>
                  <a:srgbClr val="30251E"/>
                </a:solidFill>
                <a:latin typeface="Georgia"/>
              </a:rPr>
              <a:t>criando</a:t>
            </a:r>
            <a:r>
              <a:rPr sz="3800" b="1" dirty="0">
                <a:solidFill>
                  <a:srgbClr val="30251E"/>
                </a:solidFill>
                <a:latin typeface="Georgia"/>
              </a:rPr>
              <a:t>.</a:t>
            </a:r>
          </a:p>
          <a:p>
            <a:pPr algn="l">
              <a:spcAft>
                <a:spcPts val="200"/>
              </a:spcAft>
            </a:pPr>
            <a:r>
              <a:rPr sz="3800" b="1" dirty="0" err="1">
                <a:solidFill>
                  <a:srgbClr val="30251E"/>
                </a:solidFill>
                <a:latin typeface="Georgia"/>
              </a:rPr>
              <a:t>Tudo</a:t>
            </a:r>
            <a:r>
              <a:rPr sz="3800" b="1" dirty="0">
                <a:solidFill>
                  <a:srgbClr val="30251E"/>
                </a:solidFill>
                <a:latin typeface="Georgia"/>
              </a:rPr>
              <a:t> </a:t>
            </a:r>
            <a:r>
              <a:rPr sz="3800" b="1" dirty="0" err="1">
                <a:solidFill>
                  <a:srgbClr val="30251E"/>
                </a:solidFill>
                <a:latin typeface="Georgia"/>
              </a:rPr>
              <a:t>em</a:t>
            </a:r>
            <a:r>
              <a:rPr sz="3800" b="1" dirty="0">
                <a:solidFill>
                  <a:srgbClr val="30251E"/>
                </a:solidFill>
                <a:latin typeface="Georgia"/>
              </a:rPr>
              <a:t> </a:t>
            </a:r>
            <a:r>
              <a:rPr sz="3800" b="1" dirty="0" err="1">
                <a:solidFill>
                  <a:srgbClr val="30251E"/>
                </a:solidFill>
                <a:latin typeface="Georgia"/>
              </a:rPr>
              <a:t>ordem</a:t>
            </a:r>
            <a:r>
              <a:rPr sz="3800" b="1" dirty="0">
                <a:solidFill>
                  <a:srgbClr val="30251E"/>
                </a:solidFill>
                <a:latin typeface="Georgia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133087"/>
            <a:ext cx="6217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0">
                <a:solidFill>
                  <a:srgbClr val="746B64"/>
                </a:solidFill>
                <a:latin typeface="Aptos"/>
              </a:rPr>
              <a:t>Controle simples de estoque e vendas para pequenos negócios de artesanato.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" y="5257800"/>
            <a:ext cx="6355080" cy="18288"/>
          </a:xfrm>
          <a:prstGeom prst="rect">
            <a:avLst/>
          </a:prstGeom>
          <a:solidFill>
            <a:srgbClr val="E9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" y="546811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0251E"/>
                </a:solidFill>
                <a:latin typeface="Aptos"/>
              </a:rPr>
              <a:t>Francisco Rech  •  UniSenacRS — FSPOA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79729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746B64"/>
                </a:solidFill>
                <a:latin typeface="Aptos"/>
              </a:rPr>
              <a:t>23 de outubro de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5989320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664536"/>
                </a:solidFill>
                <a:latin typeface="Aptos"/>
              </a:rPr>
              <a:t>CONTEXTO  •  MVP  •  PRÓXIMOS PASSOS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347472"/>
            <a:ext cx="4754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664536"/>
                </a:solidFill>
                <a:latin typeface="Aptos"/>
              </a:rPr>
              <a:t>01  •  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21792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30251E"/>
                </a:solidFill>
                <a:latin typeface="Aptos"/>
              </a:rPr>
              <a:t>A rotina do ateliê não cabe só na criação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46B64"/>
                </a:solidFill>
                <a:latin typeface="Aptos"/>
              </a:rPr>
              <a:t>Público-alvo presumido: artesãs e pequenos negócios que produzem e vendem peças próprias.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510528"/>
            <a:ext cx="10954512" cy="10972"/>
          </a:xfrm>
          <a:prstGeom prst="rect">
            <a:avLst/>
          </a:prstGeom>
          <a:solidFill>
            <a:srgbClr val="E9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83680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746B64"/>
                </a:solidFill>
                <a:latin typeface="Aptos"/>
              </a:rPr>
              <a:t>ARTEMIS  •  MVP DE GESTÃO PARA ARTESANATO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6539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>
                <a:solidFill>
                  <a:srgbClr val="664536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3538728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9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50392" y="2093976"/>
            <a:ext cx="1115568" cy="310896"/>
          </a:xfrm>
          <a:prstGeom prst="roundRect">
            <a:avLst/>
          </a:prstGeom>
          <a:solidFill>
            <a:srgbClr val="F0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3544" y="2148840"/>
            <a:ext cx="96926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664536"/>
                </a:solidFill>
                <a:latin typeface="Aptos"/>
              </a:rPr>
              <a:t>CONTEXTO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15184"/>
            <a:ext cx="3063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30251E"/>
                </a:solidFill>
                <a:latin typeface="Aptos"/>
              </a:rPr>
              <a:t>Quem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182112"/>
            <a:ext cx="3054096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746B64"/>
                </a:solidFill>
                <a:latin typeface="Aptos"/>
              </a:rPr>
              <a:t>Ateliês e pequenos pontos de venda de artesanato, com estoque de peças variadas e vendas no balcão ou por encomenda.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874519"/>
            <a:ext cx="3538728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9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526280" y="2093976"/>
            <a:ext cx="1115568" cy="310896"/>
          </a:xfrm>
          <a:prstGeom prst="roundRect">
            <a:avLst/>
          </a:prstGeom>
          <a:solidFill>
            <a:srgbClr val="F7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99432" y="2148840"/>
            <a:ext cx="96926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B77C38"/>
                </a:solidFill>
                <a:latin typeface="Aptos"/>
              </a:rPr>
              <a:t>PROBLEMA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615184"/>
            <a:ext cx="3063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30251E"/>
                </a:solidFill>
                <a:latin typeface="Aptos"/>
              </a:rPr>
              <a:t>Hipótese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3182112"/>
            <a:ext cx="3054096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746B64"/>
                </a:solidFill>
                <a:latin typeface="Aptos"/>
              </a:rPr>
              <a:t>Produtos, quantidades e vendas podem ficar em registros separados. Conferir o que há disponível e o que foi vendido toma tempo.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91856" y="1874519"/>
            <a:ext cx="3538728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9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202168" y="2093976"/>
            <a:ext cx="1115568" cy="310896"/>
          </a:xfrm>
          <a:prstGeom prst="roundRect">
            <a:avLst/>
          </a:prstGeom>
          <a:solidFill>
            <a:srgbClr val="EA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75320" y="2148840"/>
            <a:ext cx="96926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57715F"/>
                </a:solidFill>
                <a:latin typeface="Aptos"/>
              </a:rPr>
              <a:t>EVIDÊNCIA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0456" y="2615184"/>
            <a:ext cx="3063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30251E"/>
                </a:solidFill>
                <a:latin typeface="Aptos"/>
              </a:rPr>
              <a:t>O que sabemos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0456" y="3182112"/>
            <a:ext cx="3054096" cy="1154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500" dirty="0">
                <a:solidFill>
                  <a:srgbClr val="746B64"/>
                </a:solidFill>
                <a:latin typeface="Aptos"/>
              </a:rPr>
              <a:t>H</a:t>
            </a:r>
            <a:r>
              <a:rPr sz="1500" b="0" dirty="0" err="1">
                <a:solidFill>
                  <a:srgbClr val="746B64"/>
                </a:solidFill>
                <a:latin typeface="Aptos"/>
              </a:rPr>
              <a:t>ouve</a:t>
            </a:r>
            <a:r>
              <a:rPr lang="pt-BR" sz="1500" dirty="0">
                <a:solidFill>
                  <a:srgbClr val="746B64"/>
                </a:solidFill>
                <a:latin typeface="Aptos"/>
              </a:rPr>
              <a:t> uma</a:t>
            </a:r>
            <a:r>
              <a:rPr sz="1500" b="0" dirty="0">
                <a:solidFill>
                  <a:srgbClr val="746B64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746B64"/>
                </a:solidFill>
                <a:latin typeface="Aptos"/>
              </a:rPr>
              <a:t>entrevista</a:t>
            </a:r>
            <a:r>
              <a:rPr sz="1500" b="0" dirty="0">
                <a:solidFill>
                  <a:srgbClr val="746B64"/>
                </a:solidFill>
                <a:latin typeface="Aptos"/>
              </a:rPr>
              <a:t>, </a:t>
            </a:r>
            <a:r>
              <a:rPr sz="1500" b="0" dirty="0" err="1">
                <a:solidFill>
                  <a:srgbClr val="746B64"/>
                </a:solidFill>
                <a:latin typeface="Aptos"/>
              </a:rPr>
              <a:t>observação</a:t>
            </a:r>
            <a:r>
              <a:rPr sz="1500" b="0" dirty="0">
                <a:solidFill>
                  <a:srgbClr val="746B64"/>
                </a:solidFill>
                <a:latin typeface="Aptos"/>
              </a:rPr>
              <a:t> de </a:t>
            </a:r>
            <a:r>
              <a:rPr sz="1500" b="0" dirty="0" err="1">
                <a:solidFill>
                  <a:srgbClr val="746B64"/>
                </a:solidFill>
                <a:latin typeface="Aptos"/>
              </a:rPr>
              <a:t>rotina</a:t>
            </a:r>
            <a:r>
              <a:rPr sz="1500" b="0" dirty="0">
                <a:solidFill>
                  <a:srgbClr val="746B64"/>
                </a:solidFill>
                <a:latin typeface="Aptos"/>
              </a:rPr>
              <a:t> e coleta de dados. O </a:t>
            </a:r>
            <a:r>
              <a:rPr sz="1500" b="0" dirty="0" err="1">
                <a:solidFill>
                  <a:srgbClr val="746B64"/>
                </a:solidFill>
                <a:latin typeface="Aptos"/>
              </a:rPr>
              <a:t>problema</a:t>
            </a:r>
            <a:r>
              <a:rPr sz="1500" b="0" dirty="0">
                <a:solidFill>
                  <a:srgbClr val="746B64"/>
                </a:solidFill>
                <a:latin typeface="Aptos"/>
              </a:rPr>
              <a:t> é </a:t>
            </a:r>
            <a:r>
              <a:rPr sz="1500" b="0" dirty="0" err="1">
                <a:solidFill>
                  <a:srgbClr val="746B64"/>
                </a:solidFill>
                <a:latin typeface="Aptos"/>
              </a:rPr>
              <a:t>uma</a:t>
            </a:r>
            <a:r>
              <a:rPr sz="1500" b="0" dirty="0">
                <a:solidFill>
                  <a:srgbClr val="746B64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746B64"/>
                </a:solidFill>
                <a:latin typeface="Aptos"/>
              </a:rPr>
              <a:t>hipótese</a:t>
            </a:r>
            <a:r>
              <a:rPr sz="1500" b="0" dirty="0">
                <a:solidFill>
                  <a:srgbClr val="746B64"/>
                </a:solidFill>
                <a:latin typeface="Aptos"/>
              </a:rPr>
              <a:t> de </a:t>
            </a:r>
            <a:r>
              <a:rPr sz="1500" b="0" dirty="0" err="1">
                <a:solidFill>
                  <a:srgbClr val="746B64"/>
                </a:solidFill>
                <a:latin typeface="Aptos"/>
              </a:rPr>
              <a:t>projeto</a:t>
            </a:r>
            <a:r>
              <a:rPr sz="1500" b="0" dirty="0">
                <a:solidFill>
                  <a:srgbClr val="746B64"/>
                </a:solidFill>
                <a:latin typeface="Aptos"/>
              </a:rPr>
              <a:t>, </a:t>
            </a:r>
            <a:r>
              <a:rPr lang="pt-BR" sz="1500" b="0" dirty="0">
                <a:solidFill>
                  <a:srgbClr val="746B64"/>
                </a:solidFill>
                <a:latin typeface="Aptos"/>
              </a:rPr>
              <a:t>ainda </a:t>
            </a:r>
            <a:r>
              <a:rPr sz="1500" b="0" dirty="0" err="1">
                <a:solidFill>
                  <a:srgbClr val="746B64"/>
                </a:solidFill>
                <a:latin typeface="Aptos"/>
              </a:rPr>
              <a:t>não</a:t>
            </a:r>
            <a:r>
              <a:rPr sz="1500" b="0" dirty="0">
                <a:solidFill>
                  <a:srgbClr val="746B64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746B64"/>
                </a:solidFill>
                <a:latin typeface="Aptos"/>
              </a:rPr>
              <a:t>validado</a:t>
            </a:r>
            <a:r>
              <a:rPr lang="pt-BR" sz="1500" b="0" dirty="0">
                <a:solidFill>
                  <a:srgbClr val="746B64"/>
                </a:solidFill>
                <a:latin typeface="Aptos"/>
              </a:rPr>
              <a:t> pelos clientes capazes de usar</a:t>
            </a:r>
            <a:r>
              <a:rPr sz="1500" b="0" dirty="0">
                <a:solidFill>
                  <a:srgbClr val="746B64"/>
                </a:solidFill>
                <a:latin typeface="Aptos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376672"/>
            <a:ext cx="10881360" cy="658368"/>
          </a:xfrm>
          <a:prstGeom prst="roundRect">
            <a:avLst/>
          </a:prstGeom>
          <a:solidFill>
            <a:srgbClr val="F0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6968" y="5550408"/>
            <a:ext cx="10424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664536"/>
                </a:solidFill>
                <a:latin typeface="Aptos"/>
              </a:rPr>
              <a:t>PRÓXIMA EVIDÊNCIA: conversar com 3–5 artesãs e observar um fechamento de venda/estoque.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347472"/>
            <a:ext cx="4754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664536"/>
                </a:solidFill>
                <a:latin typeface="Aptos"/>
              </a:rPr>
              <a:t>02  •  DIREÇÃO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21792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30251E"/>
                </a:solidFill>
                <a:latin typeface="Aptos"/>
              </a:rPr>
              <a:t>Uma visão única para organizar o básico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46B64"/>
                </a:solidFill>
                <a:latin typeface="Aptos"/>
              </a:rPr>
              <a:t>A solução responde à hipótese: reunir catálogo, movimentação e leitura do negócio em um fluxo curto.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510528"/>
            <a:ext cx="10954512" cy="10972"/>
          </a:xfrm>
          <a:prstGeom prst="rect">
            <a:avLst/>
          </a:prstGeom>
          <a:solidFill>
            <a:srgbClr val="E9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83680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746B64"/>
                </a:solidFill>
                <a:latin typeface="Aptos"/>
              </a:rPr>
              <a:t>ARTEMIS  •  MVP DE GESTÃO PARA ARTESANATO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6539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>
                <a:solidFill>
                  <a:srgbClr val="664536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3886200" cy="4069080"/>
          </a:xfrm>
          <a:prstGeom prst="roundRect">
            <a:avLst/>
          </a:prstGeom>
          <a:solidFill>
            <a:srgbClr val="66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176272"/>
            <a:ext cx="32461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0E8E1"/>
                </a:solidFill>
                <a:latin typeface="Aptos"/>
              </a:rPr>
              <a:t>A PROPOSTA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697480"/>
            <a:ext cx="324612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Georgia"/>
              </a:rPr>
              <a:t>Um app leve,</a:t>
            </a:r>
          </a:p>
          <a:p>
            <a:pPr algn="l"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Georgia"/>
              </a:rPr>
              <a:t>feito para a</a:t>
            </a:r>
          </a:p>
          <a:p>
            <a:pPr algn="l"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Georgia"/>
              </a:rPr>
              <a:t>rotina do ateliê.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498848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0E8E1"/>
                </a:solidFill>
                <a:latin typeface="Aptos"/>
              </a:rPr>
              <a:t>Registrar uma venda atualiza o estoque; o painel resume o movimento.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1901952"/>
            <a:ext cx="662940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9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175504" y="2176272"/>
            <a:ext cx="475488" cy="475488"/>
          </a:xfrm>
          <a:prstGeom prst="ellipse">
            <a:avLst/>
          </a:prstGeom>
          <a:solidFill>
            <a:srgbClr val="F0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75504" y="2295144"/>
            <a:ext cx="4754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664536"/>
                </a:solidFill>
                <a:latin typeface="Apto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70448" y="208483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664536"/>
                </a:solidFill>
                <a:latin typeface="Aptos"/>
              </a:rPr>
              <a:t>CATÁLOGO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0448" y="2386584"/>
            <a:ext cx="5230368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30251E"/>
                </a:solidFill>
                <a:latin typeface="Aptos"/>
              </a:rPr>
              <a:t>Produtos, preços e quantidade disponível.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2040" y="3200400"/>
            <a:ext cx="662940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9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175504" y="3474720"/>
            <a:ext cx="475488" cy="475488"/>
          </a:xfrm>
          <a:prstGeom prst="ellipse">
            <a:avLst/>
          </a:prstGeom>
          <a:solidFill>
            <a:srgbClr val="F0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75504" y="3593592"/>
            <a:ext cx="4754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664536"/>
                </a:solidFill>
                <a:latin typeface="Apto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70448" y="338328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664536"/>
                </a:solidFill>
                <a:latin typeface="Aptos"/>
              </a:rPr>
              <a:t>MOVIMENTO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0448" y="3685032"/>
            <a:ext cx="5230368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30251E"/>
                </a:solidFill>
                <a:latin typeface="Aptos"/>
              </a:rPr>
              <a:t>Registro de venda com baixa automática no estoque.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4498848"/>
            <a:ext cx="662940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9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175504" y="4773168"/>
            <a:ext cx="475488" cy="475488"/>
          </a:xfrm>
          <a:prstGeom prst="ellipse">
            <a:avLst/>
          </a:prstGeom>
          <a:solidFill>
            <a:srgbClr val="F0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75504" y="4892040"/>
            <a:ext cx="4754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664536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70448" y="468172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664536"/>
                </a:solidFill>
                <a:latin typeface="Aptos"/>
              </a:rPr>
              <a:t>VISÃO GERAL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70448" y="4983480"/>
            <a:ext cx="5230368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30251E"/>
                </a:solidFill>
                <a:latin typeface="Aptos"/>
              </a:rPr>
              <a:t>Vendas por mês e alerta de itens com estoque baixo.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347472"/>
            <a:ext cx="4754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664536"/>
                </a:solidFill>
                <a:latin typeface="Aptos"/>
              </a:rPr>
              <a:t>03  •  DIREÇÃO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21792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30251E"/>
                </a:solidFill>
                <a:latin typeface="Aptos"/>
              </a:rPr>
              <a:t>Objetivos claros; escopo pequeno de propósito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46B64"/>
                </a:solidFill>
                <a:latin typeface="Aptos"/>
              </a:rPr>
              <a:t>MVP parcial para testar se um fluxo digital reduz o esforço de manter estoque e vendas coerentes.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510528"/>
            <a:ext cx="10954512" cy="10972"/>
          </a:xfrm>
          <a:prstGeom prst="rect">
            <a:avLst/>
          </a:prstGeom>
          <a:solidFill>
            <a:srgbClr val="E9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83680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746B64"/>
                </a:solidFill>
                <a:latin typeface="Aptos"/>
              </a:rPr>
              <a:t>ARTEMIS  •  MVP DE GESTÃO PARA ARTESANATO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6539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>
                <a:solidFill>
                  <a:srgbClr val="664536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55648"/>
            <a:ext cx="10881360" cy="822960"/>
          </a:xfrm>
          <a:prstGeom prst="roundRect">
            <a:avLst/>
          </a:prstGeom>
          <a:solidFill>
            <a:srgbClr val="EA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938528"/>
            <a:ext cx="10149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57715F"/>
                </a:solidFill>
                <a:latin typeface="Aptos"/>
              </a:rPr>
              <a:t>OBJETIVO  •  Facilitar o registro de produtos e vendas e a consulta de estoque em um ateliê.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816352"/>
            <a:ext cx="5303520" cy="3108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9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4400" y="3026664"/>
            <a:ext cx="1719072" cy="310896"/>
          </a:xfrm>
          <a:prstGeom prst="roundRect">
            <a:avLst/>
          </a:prstGeom>
          <a:solidFill>
            <a:srgbClr val="EA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7552" y="3081528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57715F"/>
                </a:solidFill>
                <a:latin typeface="Aptos"/>
              </a:rPr>
              <a:t>DENTRO DO MVP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3639312"/>
            <a:ext cx="82296" cy="82296"/>
          </a:xfrm>
          <a:prstGeom prst="ellipse">
            <a:avLst/>
          </a:prstGeom>
          <a:solidFill>
            <a:srgbClr val="66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61288" y="3529584"/>
            <a:ext cx="4462272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30251E"/>
                </a:solidFill>
                <a:latin typeface="Aptos"/>
              </a:rPr>
              <a:t>Acesso inicial e login</a:t>
            </a:r>
          </a:p>
        </p:txBody>
      </p:sp>
      <p:sp>
        <p:nvSpPr>
          <p:cNvPr id="15" name="Oval 14"/>
          <p:cNvSpPr/>
          <p:nvPr/>
        </p:nvSpPr>
        <p:spPr>
          <a:xfrm>
            <a:off x="960120" y="4078224"/>
            <a:ext cx="82296" cy="82296"/>
          </a:xfrm>
          <a:prstGeom prst="ellipse">
            <a:avLst/>
          </a:prstGeom>
          <a:solidFill>
            <a:srgbClr val="66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61288" y="3968496"/>
            <a:ext cx="4462272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30251E"/>
                </a:solidFill>
                <a:latin typeface="Aptos"/>
              </a:rPr>
              <a:t>Cadastro, edição e consulta de produtos</a:t>
            </a:r>
          </a:p>
        </p:txBody>
      </p:sp>
      <p:sp>
        <p:nvSpPr>
          <p:cNvPr id="17" name="Oval 16"/>
          <p:cNvSpPr/>
          <p:nvPr/>
        </p:nvSpPr>
        <p:spPr>
          <a:xfrm>
            <a:off x="960120" y="4517136"/>
            <a:ext cx="82296" cy="82296"/>
          </a:xfrm>
          <a:prstGeom prst="ellipse">
            <a:avLst/>
          </a:prstGeom>
          <a:solidFill>
            <a:srgbClr val="66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61288" y="4407408"/>
            <a:ext cx="4462272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30251E"/>
                </a:solidFill>
                <a:latin typeface="Aptos"/>
              </a:rPr>
              <a:t>Registro, edição e remoção de vendas</a:t>
            </a:r>
          </a:p>
        </p:txBody>
      </p:sp>
      <p:sp>
        <p:nvSpPr>
          <p:cNvPr id="19" name="Oval 18"/>
          <p:cNvSpPr/>
          <p:nvPr/>
        </p:nvSpPr>
        <p:spPr>
          <a:xfrm>
            <a:off x="960120" y="4956048"/>
            <a:ext cx="82296" cy="82296"/>
          </a:xfrm>
          <a:prstGeom prst="ellipse">
            <a:avLst/>
          </a:prstGeom>
          <a:solidFill>
            <a:srgbClr val="66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61288" y="4846320"/>
            <a:ext cx="4462272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30251E"/>
                </a:solidFill>
                <a:latin typeface="Aptos"/>
              </a:rPr>
              <a:t>Atualização transacional do estoque</a:t>
            </a:r>
          </a:p>
        </p:txBody>
      </p:sp>
      <p:sp>
        <p:nvSpPr>
          <p:cNvPr id="21" name="Oval 20"/>
          <p:cNvSpPr/>
          <p:nvPr/>
        </p:nvSpPr>
        <p:spPr>
          <a:xfrm>
            <a:off x="960120" y="5394959"/>
            <a:ext cx="82296" cy="82296"/>
          </a:xfrm>
          <a:prstGeom prst="ellipse">
            <a:avLst/>
          </a:prstGeom>
          <a:solidFill>
            <a:srgbClr val="66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61288" y="5285231"/>
            <a:ext cx="4462272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30251E"/>
                </a:solidFill>
                <a:latin typeface="Aptos"/>
              </a:rPr>
              <a:t>Resumo mensal e aviso de estoque baixo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2816352"/>
            <a:ext cx="5303520" cy="3108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9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492240" y="3026664"/>
            <a:ext cx="1773936" cy="310896"/>
          </a:xfrm>
          <a:prstGeom prst="roundRect">
            <a:avLst/>
          </a:prstGeom>
          <a:solidFill>
            <a:srgbClr val="F7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65392" y="3081528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B77C38"/>
                </a:solidFill>
                <a:latin typeface="Aptos"/>
              </a:rPr>
              <a:t>FORA DESTA ETAPA</a:t>
            </a:r>
          </a:p>
        </p:txBody>
      </p:sp>
      <p:sp>
        <p:nvSpPr>
          <p:cNvPr id="26" name="Oval 25"/>
          <p:cNvSpPr/>
          <p:nvPr/>
        </p:nvSpPr>
        <p:spPr>
          <a:xfrm>
            <a:off x="6528816" y="3721608"/>
            <a:ext cx="82296" cy="82296"/>
          </a:xfrm>
          <a:prstGeom prst="ellipse">
            <a:avLst/>
          </a:prstGeom>
          <a:solidFill>
            <a:srgbClr val="B77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29983" y="3611880"/>
            <a:ext cx="4416552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dirty="0">
                <a:solidFill>
                  <a:srgbClr val="746B64"/>
                </a:solidFill>
                <a:latin typeface="Aptos"/>
              </a:rPr>
              <a:t>Loja virtual</a:t>
            </a:r>
            <a:r>
              <a:rPr lang="pt-BR" sz="1300" b="0" dirty="0">
                <a:solidFill>
                  <a:srgbClr val="746B64"/>
                </a:solidFill>
                <a:latin typeface="Aptos"/>
              </a:rPr>
              <a:t> (a decidir)</a:t>
            </a:r>
            <a:r>
              <a:rPr sz="1300" b="0" dirty="0">
                <a:solidFill>
                  <a:srgbClr val="746B64"/>
                </a:solidFill>
                <a:latin typeface="Aptos"/>
              </a:rPr>
              <a:t>, </a:t>
            </a:r>
            <a:r>
              <a:rPr sz="1300" b="0" dirty="0" err="1">
                <a:solidFill>
                  <a:srgbClr val="746B64"/>
                </a:solidFill>
                <a:latin typeface="Aptos"/>
              </a:rPr>
              <a:t>pagamentos</a:t>
            </a:r>
            <a:r>
              <a:rPr sz="1300" b="0" dirty="0">
                <a:solidFill>
                  <a:srgbClr val="746B64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746B64"/>
                </a:solidFill>
                <a:latin typeface="Aptos"/>
              </a:rPr>
              <a:t>ou</a:t>
            </a:r>
            <a:r>
              <a:rPr sz="1300" b="0" dirty="0">
                <a:solidFill>
                  <a:srgbClr val="746B64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746B64"/>
                </a:solidFill>
                <a:latin typeface="Aptos"/>
              </a:rPr>
              <a:t>emissão</a:t>
            </a:r>
            <a:r>
              <a:rPr sz="1300" b="0" dirty="0">
                <a:solidFill>
                  <a:srgbClr val="746B64"/>
                </a:solidFill>
                <a:latin typeface="Aptos"/>
              </a:rPr>
              <a:t> fiscal</a:t>
            </a:r>
          </a:p>
        </p:txBody>
      </p:sp>
      <p:sp>
        <p:nvSpPr>
          <p:cNvPr id="28" name="Oval 27"/>
          <p:cNvSpPr/>
          <p:nvPr/>
        </p:nvSpPr>
        <p:spPr>
          <a:xfrm>
            <a:off x="6528816" y="4251960"/>
            <a:ext cx="82296" cy="82296"/>
          </a:xfrm>
          <a:prstGeom prst="ellipse">
            <a:avLst/>
          </a:prstGeom>
          <a:solidFill>
            <a:srgbClr val="B77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29983" y="4142232"/>
            <a:ext cx="4416552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300" b="0" dirty="0">
                <a:solidFill>
                  <a:srgbClr val="746B64"/>
                </a:solidFill>
                <a:latin typeface="Aptos"/>
              </a:rPr>
              <a:t>P</a:t>
            </a:r>
            <a:r>
              <a:rPr sz="1300" b="0" dirty="0" err="1">
                <a:solidFill>
                  <a:srgbClr val="746B64"/>
                </a:solidFill>
                <a:latin typeface="Aptos"/>
              </a:rPr>
              <a:t>erfis</a:t>
            </a:r>
            <a:r>
              <a:rPr sz="1300" b="0" dirty="0">
                <a:solidFill>
                  <a:srgbClr val="746B64"/>
                </a:solidFill>
                <a:latin typeface="Aptos"/>
              </a:rPr>
              <a:t> </a:t>
            </a:r>
            <a:r>
              <a:rPr lang="pt-BR" sz="1300" b="0" dirty="0">
                <a:solidFill>
                  <a:srgbClr val="746B64"/>
                </a:solidFill>
                <a:latin typeface="Aptos"/>
              </a:rPr>
              <a:t>com permissões específicas</a:t>
            </a:r>
            <a:endParaRPr sz="1300" b="0" dirty="0">
              <a:solidFill>
                <a:srgbClr val="746B64"/>
              </a:solidFill>
              <a:latin typeface="Aptos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6528816" y="4782312"/>
            <a:ext cx="82296" cy="82296"/>
          </a:xfrm>
          <a:prstGeom prst="ellipse">
            <a:avLst/>
          </a:prstGeom>
          <a:solidFill>
            <a:srgbClr val="B77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29983" y="4672584"/>
            <a:ext cx="4416552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46B64"/>
                </a:solidFill>
                <a:latin typeface="Aptos"/>
              </a:rPr>
              <a:t>Previsão automática de demanda</a:t>
            </a:r>
          </a:p>
        </p:txBody>
      </p:sp>
      <p:sp>
        <p:nvSpPr>
          <p:cNvPr id="32" name="Oval 31"/>
          <p:cNvSpPr/>
          <p:nvPr/>
        </p:nvSpPr>
        <p:spPr>
          <a:xfrm>
            <a:off x="6528816" y="5312664"/>
            <a:ext cx="82296" cy="82296"/>
          </a:xfrm>
          <a:prstGeom prst="ellipse">
            <a:avLst/>
          </a:prstGeom>
          <a:solidFill>
            <a:srgbClr val="B77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29983" y="5202936"/>
            <a:ext cx="4416552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46B64"/>
                </a:solidFill>
                <a:latin typeface="Aptos"/>
              </a:rPr>
              <a:t>Hospedagem e operação em produção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347472"/>
            <a:ext cx="4754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664536"/>
                </a:solidFill>
                <a:latin typeface="Aptos"/>
              </a:rPr>
              <a:t>04  •  EXTENSÃO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21792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30251E"/>
                </a:solidFill>
                <a:latin typeface="Aptos"/>
              </a:rPr>
              <a:t>Levar o MVP à comunidade — e aprender com ela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46B64"/>
                </a:solidFill>
                <a:latin typeface="Aptos"/>
              </a:rPr>
              <a:t>Atividade extensionista proposta; ainda precisa ser realizada com participantes reais.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510528"/>
            <a:ext cx="10954512" cy="10972"/>
          </a:xfrm>
          <a:prstGeom prst="rect">
            <a:avLst/>
          </a:prstGeom>
          <a:solidFill>
            <a:srgbClr val="E9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83680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746B64"/>
                </a:solidFill>
                <a:latin typeface="Aptos"/>
              </a:rPr>
              <a:t>ARTEMIS  •  MVP DE GESTÃO PARA ARTESANATO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6539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>
                <a:solidFill>
                  <a:srgbClr val="664536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93392"/>
            <a:ext cx="2487168" cy="2651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9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77824" y="2249424"/>
            <a:ext cx="502920" cy="502920"/>
          </a:xfrm>
          <a:prstGeom prst="ellipse">
            <a:avLst/>
          </a:prstGeom>
          <a:solidFill>
            <a:srgbClr val="F0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2395728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664536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97180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64536"/>
                </a:solidFill>
                <a:latin typeface="Aptos"/>
              </a:rPr>
              <a:t>ESCUTA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447288"/>
            <a:ext cx="2029968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746B64"/>
                </a:solidFill>
                <a:latin typeface="Aptos"/>
              </a:rPr>
              <a:t>Convidar 3–5 artesãs locais; mapear como anotam produtos, vendas e reposição.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45536" y="299008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B98B6B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1568" y="1993392"/>
            <a:ext cx="2487168" cy="2651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9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621024" y="2249424"/>
            <a:ext cx="502920" cy="502920"/>
          </a:xfrm>
          <a:prstGeom prst="ellipse">
            <a:avLst/>
          </a:prstGeom>
          <a:solidFill>
            <a:srgbClr val="F0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21024" y="2395728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664536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1024" y="297180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64536"/>
                </a:solidFill>
                <a:latin typeface="Aptos"/>
              </a:rPr>
              <a:t>CO-CRIAÇÃO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1024" y="3447288"/>
            <a:ext cx="2029968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746B64"/>
                </a:solidFill>
                <a:latin typeface="Aptos"/>
              </a:rPr>
              <a:t>Mostrar o protótipo e priorizar, junto com elas, o que ajuda e o que atrapalha.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88736" y="299008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B98B6B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4768" y="1993392"/>
            <a:ext cx="2487168" cy="2651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9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64224" y="2249424"/>
            <a:ext cx="502920" cy="502920"/>
          </a:xfrm>
          <a:prstGeom prst="ellipse">
            <a:avLst/>
          </a:prstGeom>
          <a:solidFill>
            <a:srgbClr val="F0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64224" y="2395728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664536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297180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64536"/>
                </a:solidFill>
                <a:latin typeface="Aptos"/>
              </a:rPr>
              <a:t>OFICINA-PILOTO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3447288"/>
            <a:ext cx="2029968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746B64"/>
                </a:solidFill>
                <a:latin typeface="Aptos"/>
              </a:rPr>
              <a:t>Apoiar uma artesã a cadastrar alguns itens e simular uma venda no app.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31936" y="299008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B98B6B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87968" y="1993392"/>
            <a:ext cx="2487168" cy="2651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9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107424" y="2249424"/>
            <a:ext cx="502920" cy="502920"/>
          </a:xfrm>
          <a:prstGeom prst="ellipse">
            <a:avLst/>
          </a:prstGeom>
          <a:solidFill>
            <a:srgbClr val="F0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07424" y="2395728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664536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7424" y="297180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64536"/>
                </a:solidFill>
                <a:latin typeface="Aptos"/>
              </a:rPr>
              <a:t>RETORNO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07424" y="3447288"/>
            <a:ext cx="2029968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746B64"/>
                </a:solidFill>
                <a:latin typeface="Aptos"/>
              </a:rPr>
              <a:t>Recolher feedback após uma semana e ajustar linguagem, acessibilidade e fluxo.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74920"/>
            <a:ext cx="10954512" cy="822960"/>
          </a:xfrm>
          <a:prstGeom prst="roundRect">
            <a:avLst/>
          </a:prstGeom>
          <a:solidFill>
            <a:srgbClr val="F0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294376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664536"/>
                </a:solidFill>
                <a:latin typeface="Aptos"/>
              </a:rPr>
              <a:t>ENTREGA À COMUNIDADE  •  ferramenta testada com participantes + guia curto de uso + melhorias priorizadas.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347472"/>
            <a:ext cx="4754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664536"/>
                </a:solidFill>
                <a:latin typeface="Aptos"/>
              </a:rPr>
              <a:t>05  •  EXECUÇÃO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21792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30251E"/>
                </a:solidFill>
                <a:latin typeface="Aptos"/>
              </a:rPr>
              <a:t>Cada tecnologia tem uma função no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46B64"/>
                </a:solidFill>
                <a:latin typeface="Aptos"/>
              </a:rPr>
              <a:t>Arquitetura web simples; banco local como padrão para facilitar o primeiro uso sem containers.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510528"/>
            <a:ext cx="10954512" cy="10972"/>
          </a:xfrm>
          <a:prstGeom prst="rect">
            <a:avLst/>
          </a:prstGeom>
          <a:solidFill>
            <a:srgbClr val="E9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83680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746B64"/>
                </a:solidFill>
                <a:latin typeface="Aptos"/>
              </a:rPr>
              <a:t>ARTEMIS  •  MVP DE GESTÃO PARA ARTESANATO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6539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>
                <a:solidFill>
                  <a:srgbClr val="664536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37360"/>
            <a:ext cx="10881360" cy="6766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9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82296" cy="676656"/>
          </a:xfrm>
          <a:prstGeom prst="rect">
            <a:avLst/>
          </a:prstGeom>
          <a:solidFill>
            <a:srgbClr val="66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874519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0251E"/>
                </a:solidFill>
                <a:latin typeface="Aptos"/>
              </a:rPr>
              <a:t>React + TypeScript + Vite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874519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664536"/>
                </a:solidFill>
                <a:latin typeface="Aptos"/>
              </a:rPr>
              <a:t>Interface web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1837943"/>
            <a:ext cx="56235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46B64"/>
                </a:solidFill>
                <a:latin typeface="Aptos"/>
              </a:rPr>
              <a:t>Telas de autenticação, catálogo, vendas e painel; desenvolvimento e compilação do frontend.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569464"/>
            <a:ext cx="10881360" cy="6766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9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" y="2569464"/>
            <a:ext cx="82296" cy="676656"/>
          </a:xfrm>
          <a:prstGeom prst="rect">
            <a:avLst/>
          </a:prstGeom>
          <a:solidFill>
            <a:srgbClr val="577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2706624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0251E"/>
                </a:solidFill>
                <a:latin typeface="Aptos"/>
              </a:rPr>
              <a:t>NestJS + API REST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706624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57715F"/>
                </a:solidFill>
                <a:latin typeface="Aptos"/>
              </a:rPr>
              <a:t>Regras de negócio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2670048"/>
            <a:ext cx="56235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46B64"/>
                </a:solidFill>
                <a:latin typeface="Aptos"/>
              </a:rPr>
              <a:t>Autenticação, validação de dados e rotas para produtos, vendas e relatórios.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401568"/>
            <a:ext cx="10881360" cy="6766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9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58368" y="3401568"/>
            <a:ext cx="82296" cy="676656"/>
          </a:xfrm>
          <a:prstGeom prst="rect">
            <a:avLst/>
          </a:prstGeom>
          <a:solidFill>
            <a:srgbClr val="B98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3538727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0251E"/>
                </a:solidFill>
                <a:latin typeface="Aptos"/>
              </a:rPr>
              <a:t>Prisma 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3538727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98B6B"/>
                </a:solidFill>
                <a:latin typeface="Aptos"/>
              </a:rPr>
              <a:t>Persistência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3502151"/>
            <a:ext cx="56235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46B64"/>
                </a:solidFill>
                <a:latin typeface="Aptos"/>
              </a:rPr>
              <a:t>Modelos tipados, migrações e acesso ao banco a partir da API.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233672"/>
            <a:ext cx="10881360" cy="6766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9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58368" y="4233672"/>
            <a:ext cx="82296" cy="676656"/>
          </a:xfrm>
          <a:prstGeom prst="rect">
            <a:avLst/>
          </a:prstGeom>
          <a:solidFill>
            <a:srgbClr val="B77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2688" y="4370832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0251E"/>
                </a:solidFill>
                <a:latin typeface="Aptos"/>
              </a:rPr>
              <a:t>SQLite / PostgreSQL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437083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77C38"/>
                </a:solidFill>
                <a:latin typeface="Aptos"/>
              </a:rPr>
              <a:t>Banco de dados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334256"/>
            <a:ext cx="56235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46B64"/>
                </a:solidFill>
                <a:latin typeface="Aptos"/>
              </a:rPr>
              <a:t>SQLite dispensa serviço local; PostgreSQL permanece como opção para implantação.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065776"/>
            <a:ext cx="10881360" cy="6766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9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58368" y="5065776"/>
            <a:ext cx="82296" cy="676656"/>
          </a:xfrm>
          <a:prstGeom prst="rect">
            <a:avLst/>
          </a:prstGeom>
          <a:solidFill>
            <a:srgbClr val="66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32688" y="5202936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0251E"/>
                </a:solidFill>
                <a:latin typeface="Aptos"/>
              </a:rPr>
              <a:t>Jest + validação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39" y="5202936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664536"/>
                </a:solidFill>
                <a:latin typeface="Aptos"/>
              </a:rPr>
              <a:t>Confiabilidade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5166360"/>
            <a:ext cx="56235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46B64"/>
                </a:solidFill>
                <a:latin typeface="Aptos"/>
              </a:rPr>
              <a:t>Testes da API e dos fluxos; compilação e lint verificados no projeto.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347472"/>
            <a:ext cx="4754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664536"/>
                </a:solidFill>
                <a:latin typeface="Aptos"/>
              </a:rPr>
              <a:t>06  •  DEMONSTRAÇÃO TESTADA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21792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30251E"/>
                </a:solidFill>
                <a:latin typeface="Aptos"/>
              </a:rPr>
              <a:t>Do registro ao panorama da loja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46B64"/>
                </a:solidFill>
                <a:latin typeface="Aptos"/>
              </a:rPr>
              <a:t>Captura real do MVP local com dados fictícios; a demonstração foi executada em uma base SQLite isolada.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510528"/>
            <a:ext cx="10954512" cy="10972"/>
          </a:xfrm>
          <a:prstGeom prst="rect">
            <a:avLst/>
          </a:prstGeom>
          <a:solidFill>
            <a:srgbClr val="E9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83680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746B64"/>
                </a:solidFill>
                <a:latin typeface="Aptos"/>
              </a:rPr>
              <a:t>ARTEMIS  •  MVP DE GESTÃO PARA ARTESANATO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6539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>
                <a:solidFill>
                  <a:srgbClr val="664536"/>
                </a:solidFill>
                <a:latin typeface="Aptos"/>
              </a:rPr>
              <a:t>07</a:t>
            </a:r>
          </a:p>
        </p:txBody>
      </p:sp>
      <p:pic>
        <p:nvPicPr>
          <p:cNvPr id="8" name="Picture 7" descr="dashboard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64208"/>
            <a:ext cx="676656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54112" y="1737360"/>
            <a:ext cx="3767328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9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28431" y="1956816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30251E"/>
                </a:solidFill>
                <a:latin typeface="Aptos"/>
              </a:rPr>
              <a:t>4 produtos cadastrados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8431" y="233172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46B64"/>
                </a:solidFill>
                <a:latin typeface="Aptos"/>
              </a:rPr>
              <a:t>Catálogo organizado por preço e quantidade.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54112" y="2971800"/>
            <a:ext cx="3767328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9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28431" y="3191256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664536"/>
                </a:solidFill>
                <a:latin typeface="Aptos"/>
              </a:rPr>
              <a:t>R$ 412,00 no mês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1" y="356616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746B64"/>
                </a:solidFill>
                <a:latin typeface="Aptos"/>
              </a:rPr>
              <a:t>Valor ilustrativo calculado a partir das vendas de teste.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54112" y="4206240"/>
            <a:ext cx="3767328" cy="1024128"/>
          </a:xfrm>
          <a:prstGeom prst="roundRect">
            <a:avLst/>
          </a:prstGeom>
          <a:solidFill>
            <a:srgbClr val="F7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28431" y="4425696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B77C38"/>
                </a:solidFill>
                <a:latin typeface="Aptos"/>
              </a:rPr>
              <a:t>1 item em atenção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431" y="4800600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46B64"/>
                </a:solidFill>
                <a:latin typeface="Aptos"/>
              </a:rPr>
              <a:t>Vaso de cerâmica • 2 unidades.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0688" y="5596128"/>
            <a:ext cx="361188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746B64"/>
                </a:solidFill>
                <a:latin typeface="Aptos"/>
              </a:rPr>
              <a:t>Dados fictícios. Nenhum dado de cliente foi usado.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347472"/>
            <a:ext cx="4754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664536"/>
                </a:solidFill>
                <a:latin typeface="Aptos"/>
              </a:rPr>
              <a:t>06  •  DEMONSTRAÇÃO TESTADA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21792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30251E"/>
                </a:solidFill>
                <a:latin typeface="Aptos"/>
              </a:rPr>
              <a:t>Uma venda atualiza o estoque na mesma operação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46B64"/>
                </a:solidFill>
                <a:latin typeface="Aptos"/>
              </a:rPr>
              <a:t>Fluxo executado no protótipo: escolher produto, informar quantidade, salvar e conferir o saldo.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510528"/>
            <a:ext cx="10954512" cy="10972"/>
          </a:xfrm>
          <a:prstGeom prst="rect">
            <a:avLst/>
          </a:prstGeom>
          <a:solidFill>
            <a:srgbClr val="E9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83680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746B64"/>
                </a:solidFill>
                <a:latin typeface="Aptos"/>
              </a:rPr>
              <a:t>ARTEMIS  •  MVP DE GESTÃO PARA ARTESANATO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6539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>
                <a:solidFill>
                  <a:srgbClr val="664536"/>
                </a:solidFill>
                <a:latin typeface="Aptos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27632"/>
            <a:ext cx="5074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664536"/>
                </a:solidFill>
                <a:latin typeface="Aptos"/>
              </a:rPr>
              <a:t>CATÁLOGO  •  antes/depois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7648" y="1627632"/>
            <a:ext cx="5074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664536"/>
                </a:solidFill>
                <a:latin typeface="Aptos"/>
              </a:rPr>
              <a:t>VENDAS  •  lançamento confirmado</a:t>
            </a:r>
          </a:p>
        </p:txBody>
      </p:sp>
      <p:pic>
        <p:nvPicPr>
          <p:cNvPr id="10" name="Picture 9" descr="products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75104"/>
            <a:ext cx="5321808" cy="3730752"/>
          </a:xfrm>
          <a:prstGeom prst="rect">
            <a:avLst/>
          </a:prstGeom>
        </p:spPr>
      </p:pic>
      <p:pic>
        <p:nvPicPr>
          <p:cNvPr id="11" name="Picture 10" descr="sales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975104"/>
            <a:ext cx="5321808" cy="373075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815584"/>
            <a:ext cx="10881360" cy="438912"/>
          </a:xfrm>
          <a:prstGeom prst="roundRect">
            <a:avLst/>
          </a:prstGeom>
          <a:solidFill>
            <a:srgbClr val="EA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5925312"/>
            <a:ext cx="10515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57715F"/>
                </a:solidFill>
                <a:latin typeface="Aptos"/>
              </a:rPr>
              <a:t>TESTE REAL  •  venda de 2 unidades: estoque 12 → 10; venda de R$ 59,80 aparece no painel.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347472"/>
            <a:ext cx="4754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664536"/>
                </a:solidFill>
                <a:latin typeface="Aptos"/>
              </a:rPr>
              <a:t>07  •  ANDAMENTO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21792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30251E"/>
                </a:solidFill>
                <a:latin typeface="Aptos"/>
              </a:rPr>
              <a:t>MVP técnico funcional; validação com pessoas ainda pendente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46B64"/>
                </a:solidFill>
                <a:latin typeface="Aptos"/>
              </a:rPr>
              <a:t>Indicadores distinguem o que já foi implementado do que ainda precisa ser comprovado na prática.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510528"/>
            <a:ext cx="10954512" cy="10972"/>
          </a:xfrm>
          <a:prstGeom prst="rect">
            <a:avLst/>
          </a:prstGeom>
          <a:solidFill>
            <a:srgbClr val="E9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83680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746B64"/>
                </a:solidFill>
                <a:latin typeface="Aptos"/>
              </a:rPr>
              <a:t>ARTEMIS  •  MVP DE GESTÃO PARA ARTESANATO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6539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>
                <a:solidFill>
                  <a:srgbClr val="664536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19072"/>
            <a:ext cx="3401568" cy="1389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9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719072"/>
            <a:ext cx="3401568" cy="91440"/>
          </a:xfrm>
          <a:prstGeom prst="rect">
            <a:avLst/>
          </a:prstGeom>
          <a:solidFill>
            <a:srgbClr val="577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1938528"/>
            <a:ext cx="1078992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57715F"/>
                </a:solidFill>
                <a:latin typeface="Aptos"/>
              </a:rPr>
              <a:t>4 /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38528" y="1947672"/>
            <a:ext cx="1874519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0251E"/>
                </a:solidFill>
                <a:latin typeface="Aptos"/>
              </a:rPr>
              <a:t>fluxos centrais implementados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38528" y="2340864"/>
            <a:ext cx="1901952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746B64"/>
                </a:solidFill>
                <a:latin typeface="Aptos"/>
              </a:rPr>
              <a:t>Produtos • vendas/estoque • acesso • painel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719072"/>
            <a:ext cx="3401568" cy="1389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9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15968" y="1719072"/>
            <a:ext cx="3401568" cy="91440"/>
          </a:xfrm>
          <a:prstGeom prst="rect">
            <a:avLst/>
          </a:prstGeom>
          <a:solidFill>
            <a:srgbClr val="66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17136" y="1938528"/>
            <a:ext cx="1078992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664536"/>
                </a:solidFill>
                <a:latin typeface="Aptos"/>
              </a:rP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96127" y="1947672"/>
            <a:ext cx="1874519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0251E"/>
                </a:solidFill>
                <a:latin typeface="Aptos"/>
              </a:rPr>
              <a:t>testes de API passando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7" y="2340864"/>
            <a:ext cx="1901952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746B64"/>
                </a:solidFill>
                <a:latin typeface="Aptos"/>
              </a:rPr>
              <a:t>10 testes unitários + 2 de ponta a ponta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719072"/>
            <a:ext cx="3401568" cy="1389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9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973568" y="1719072"/>
            <a:ext cx="3401568" cy="91440"/>
          </a:xfrm>
          <a:prstGeom prst="rect">
            <a:avLst/>
          </a:prstGeom>
          <a:solidFill>
            <a:srgbClr val="B77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74736" y="1938528"/>
            <a:ext cx="1078992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B77C38"/>
                </a:solidFill>
                <a:latin typeface="Aptos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1947672"/>
            <a:ext cx="1874519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0251E"/>
                </a:solidFill>
                <a:latin typeface="Aptos"/>
              </a:rPr>
              <a:t>ciclos com usuários externos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728" y="2340864"/>
            <a:ext cx="190195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dirty="0">
                <a:solidFill>
                  <a:srgbClr val="746B64"/>
                </a:solidFill>
                <a:latin typeface="Aptos"/>
              </a:rPr>
              <a:t>Sem </a:t>
            </a:r>
            <a:r>
              <a:rPr sz="1000" b="0" dirty="0" err="1">
                <a:solidFill>
                  <a:srgbClr val="746B64"/>
                </a:solidFill>
                <a:latin typeface="Aptos"/>
              </a:rPr>
              <a:t>entrevistas</a:t>
            </a:r>
            <a:r>
              <a:rPr lang="pt-BR" sz="1000" b="0" dirty="0">
                <a:solidFill>
                  <a:srgbClr val="746B64"/>
                </a:solidFill>
                <a:latin typeface="Aptos"/>
              </a:rPr>
              <a:t> de experiência de uso</a:t>
            </a:r>
            <a:r>
              <a:rPr sz="1000" b="0" dirty="0">
                <a:solidFill>
                  <a:srgbClr val="746B64"/>
                </a:solidFill>
                <a:latin typeface="Aptos"/>
              </a:rPr>
              <a:t> </a:t>
            </a:r>
            <a:r>
              <a:rPr sz="1000" b="0" dirty="0" err="1">
                <a:solidFill>
                  <a:srgbClr val="746B64"/>
                </a:solidFill>
                <a:latin typeface="Aptos"/>
              </a:rPr>
              <a:t>ou</a:t>
            </a:r>
            <a:r>
              <a:rPr sz="1000" b="0" dirty="0">
                <a:solidFill>
                  <a:srgbClr val="746B64"/>
                </a:solidFill>
                <a:latin typeface="Aptos"/>
              </a:rPr>
              <a:t> </a:t>
            </a:r>
            <a:r>
              <a:rPr sz="1000" b="0" dirty="0" err="1">
                <a:solidFill>
                  <a:srgbClr val="746B64"/>
                </a:solidFill>
                <a:latin typeface="Aptos"/>
              </a:rPr>
              <a:t>piloto</a:t>
            </a:r>
            <a:r>
              <a:rPr sz="1000" b="0" dirty="0">
                <a:solidFill>
                  <a:srgbClr val="746B64"/>
                </a:solidFill>
                <a:latin typeface="Aptos"/>
              </a:rPr>
              <a:t> </a:t>
            </a:r>
            <a:r>
              <a:rPr sz="1000" b="0" dirty="0" err="1">
                <a:solidFill>
                  <a:srgbClr val="746B64"/>
                </a:solidFill>
                <a:latin typeface="Aptos"/>
              </a:rPr>
              <a:t>concluído</a:t>
            </a:r>
            <a:r>
              <a:rPr sz="1000" b="0" dirty="0">
                <a:solidFill>
                  <a:srgbClr val="746B64"/>
                </a:solidFill>
                <a:latin typeface="Aptos"/>
              </a:rPr>
              <a:t> </a:t>
            </a:r>
            <a:r>
              <a:rPr sz="1000" b="0" dirty="0" err="1">
                <a:solidFill>
                  <a:srgbClr val="746B64"/>
                </a:solidFill>
                <a:latin typeface="Aptos"/>
              </a:rPr>
              <a:t>até</a:t>
            </a:r>
            <a:r>
              <a:rPr sz="1000" b="0" dirty="0">
                <a:solidFill>
                  <a:srgbClr val="746B64"/>
                </a:solidFill>
                <a:latin typeface="Aptos"/>
              </a:rPr>
              <a:t> agora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" y="3401568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664536"/>
                </a:solidFill>
                <a:latin typeface="Aptos"/>
              </a:rPr>
              <a:t>CRONOGRAMA PROPOSTO  •  próximas quatro semanas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867912"/>
            <a:ext cx="2487168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9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59" y="4078224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664536"/>
                </a:solidFill>
                <a:latin typeface="Aptos"/>
              </a:rPr>
              <a:t>26–30 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4407408"/>
            <a:ext cx="21488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30251E"/>
                </a:solidFill>
                <a:latin typeface="Aptos"/>
              </a:rPr>
              <a:t>Escuta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4800600"/>
            <a:ext cx="2148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46B64"/>
                </a:solidFill>
                <a:latin typeface="Aptos"/>
              </a:rPr>
              <a:t>3–5 conversas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01568" y="3867912"/>
            <a:ext cx="2487168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9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66160" y="4078224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664536"/>
                </a:solidFill>
                <a:latin typeface="Aptos"/>
              </a:rPr>
              <a:t>02–06 NOV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4407408"/>
            <a:ext cx="21488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30251E"/>
                </a:solidFill>
                <a:latin typeface="Aptos"/>
              </a:rPr>
              <a:t>Ajuste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4800600"/>
            <a:ext cx="2148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46B64"/>
                </a:solidFill>
                <a:latin typeface="Aptos"/>
              </a:rPr>
              <a:t>priorizar feedback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44768" y="3867912"/>
            <a:ext cx="2487168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9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09359" y="4078224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664536"/>
                </a:solidFill>
                <a:latin typeface="Aptos"/>
              </a:rPr>
              <a:t>09–13 NOV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59" y="4407408"/>
            <a:ext cx="21488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30251E"/>
                </a:solidFill>
                <a:latin typeface="Aptos"/>
              </a:rPr>
              <a:t>Piloto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59" y="4800600"/>
            <a:ext cx="2148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46B64"/>
                </a:solidFill>
                <a:latin typeface="Aptos"/>
              </a:rPr>
              <a:t>1 ateliê parceiro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87968" y="3867912"/>
            <a:ext cx="2487168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9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052560" y="4078224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664536"/>
                </a:solidFill>
                <a:latin typeface="Aptos"/>
              </a:rPr>
              <a:t>16–20 NOV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4407408"/>
            <a:ext cx="21488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30251E"/>
                </a:solidFill>
                <a:latin typeface="Aptos"/>
              </a:rPr>
              <a:t>Revisão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0" y="4800600"/>
            <a:ext cx="2148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46B64"/>
                </a:solidFill>
                <a:latin typeface="Aptos"/>
              </a:rPr>
              <a:t>medir e corrigir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440680"/>
            <a:ext cx="10954512" cy="530352"/>
          </a:xfrm>
          <a:prstGeom prst="roundRect">
            <a:avLst/>
          </a:prstGeom>
          <a:solidFill>
            <a:srgbClr val="F0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59536" y="5596128"/>
            <a:ext cx="10515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64536"/>
                </a:solidFill>
                <a:latin typeface="Aptos"/>
              </a:rPr>
              <a:t>Critério de avanço: concluir entrevistas, realizar 1 piloto e registrar 3 melhorias priorizadas.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347472"/>
            <a:ext cx="4754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664536"/>
                </a:solidFill>
                <a:latin typeface="Aptos"/>
              </a:rPr>
              <a:t>08  •  PRÓXIMOS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21792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30251E"/>
                </a:solidFill>
                <a:latin typeface="Aptos"/>
              </a:rPr>
              <a:t>Reduzir riscos com validação pequena e concreta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46B64"/>
                </a:solidFill>
                <a:latin typeface="Aptos"/>
              </a:rPr>
              <a:t>Foco imediato: comprovar o problema, acompanhar o uso e proteger os dados antes de ampliar o escopo.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510528"/>
            <a:ext cx="10954512" cy="10972"/>
          </a:xfrm>
          <a:prstGeom prst="rect">
            <a:avLst/>
          </a:prstGeom>
          <a:solidFill>
            <a:srgbClr val="E9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83680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746B64"/>
                </a:solidFill>
                <a:latin typeface="Aptos"/>
              </a:rPr>
              <a:t>ARTEMIS  •  MVP DE GESTÃO PARA ARTESANATO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6539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>
                <a:solidFill>
                  <a:srgbClr val="664536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55648"/>
            <a:ext cx="681228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9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96112" y="1965960"/>
            <a:ext cx="310896" cy="310896"/>
          </a:xfrm>
          <a:prstGeom prst="ellipse">
            <a:avLst/>
          </a:prstGeom>
          <a:solidFill>
            <a:srgbClr val="EA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35024" y="1874519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0251E"/>
                </a:solidFill>
                <a:latin typeface="Aptos"/>
              </a:rPr>
              <a:t>Hipótese pode não refletir a rotina 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41648" y="1865376"/>
            <a:ext cx="3127248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46B64"/>
                </a:solidFill>
                <a:latin typeface="Aptos"/>
              </a:rPr>
              <a:t>Entrevistar 3–5 artesãs antes de priorizar novas telas.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706624"/>
            <a:ext cx="681228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9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96112" y="2916936"/>
            <a:ext cx="310896" cy="310896"/>
          </a:xfrm>
          <a:prstGeom prst="ellipse">
            <a:avLst/>
          </a:prstGeom>
          <a:solidFill>
            <a:srgbClr val="F0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35024" y="2825496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0251E"/>
                </a:solidFill>
                <a:latin typeface="Aptos"/>
              </a:rPr>
              <a:t>Dados locais sem rotina de cópia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41648" y="2816352"/>
            <a:ext cx="3127248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46B64"/>
                </a:solidFill>
                <a:latin typeface="Aptos"/>
              </a:rPr>
              <a:t>Manter SQLite só no piloto; planejar backup/exportação antes de uso contínuo.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657600"/>
            <a:ext cx="681228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9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96112" y="3867912"/>
            <a:ext cx="310896" cy="310896"/>
          </a:xfrm>
          <a:prstGeom prst="ellipse">
            <a:avLst/>
          </a:prstGeom>
          <a:solidFill>
            <a:srgbClr val="EA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35024" y="3776472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0251E"/>
                </a:solidFill>
                <a:latin typeface="Aptos"/>
              </a:rPr>
              <a:t>Usabilidade ainda não observada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41648" y="3767328"/>
            <a:ext cx="3127248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46B64"/>
                </a:solidFill>
                <a:latin typeface="Aptos"/>
              </a:rPr>
              <a:t>Acompanhar 1 piloto presencial e registrar dúvidas, erros e tempo por tarefa.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755648"/>
            <a:ext cx="3703320" cy="3639312"/>
          </a:xfrm>
          <a:prstGeom prst="roundRect">
            <a:avLst/>
          </a:prstGeom>
          <a:solidFill>
            <a:srgbClr val="66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19872" y="2057400"/>
            <a:ext cx="30723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0E8E1"/>
                </a:solidFill>
                <a:latin typeface="Aptos"/>
              </a:rPr>
              <a:t>PRÓXIMOS 30 DIAS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1583" y="2542032"/>
            <a:ext cx="306324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Aptos"/>
              </a:rPr>
              <a:t>1. Validar a dor</a:t>
            </a:r>
          </a:p>
          <a:p>
            <a:pPr algn="l"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Aptos"/>
              </a:rPr>
              <a:t>2. Ajustar o fluxo</a:t>
            </a:r>
          </a:p>
          <a:p>
            <a:pPr algn="l"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Aptos"/>
              </a:rPr>
              <a:t>3. Testar um piloto</a:t>
            </a:r>
          </a:p>
          <a:p>
            <a:pPr algn="l"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Aptos"/>
              </a:rPr>
              <a:t>4. Medir e decidir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9872" y="4828032"/>
            <a:ext cx="2907792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0E8E1"/>
                </a:solidFill>
                <a:latin typeface="Aptos"/>
              </a:rPr>
              <a:t>Meta de teste: registrar uma venda em até 60 s, sem erro de estoque.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892040"/>
            <a:ext cx="6812280" cy="658368"/>
          </a:xfrm>
          <a:prstGeom prst="roundRect">
            <a:avLst/>
          </a:prstGeom>
          <a:solidFill>
            <a:srgbClr val="F7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6112" y="5074920"/>
            <a:ext cx="6355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77C38"/>
                </a:solidFill>
                <a:latin typeface="Aptos"/>
              </a:rPr>
              <a:t>DECISÃO APÓS O PILOTO  •  manter, simplificar ou redirecionar o MVP com base no feedback.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5879592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664536"/>
                </a:solidFill>
                <a:latin typeface="Aptos"/>
              </a:rPr>
              <a:t>Artemis: tecnologia como apoio à autonomia e à organização do trabalho artesanal.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</TotalTime>
  <Words>1081</Words>
  <Application>Microsoft Office PowerPoint</Application>
  <PresentationFormat>Widescreen</PresentationFormat>
  <Paragraphs>168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Artemis — apresentação do MVP</dc:title>
  <dc:subject>Contexto, solução, execução e andamento do projeto</dc:subject>
  <dc:creator>Francisco Rech</dc:creator>
  <cp:keywords>Artemis, MVP, extensão, estoque, vendas</cp:keywords>
  <dc:description>generated using python-pptx</dc:description>
  <cp:lastModifiedBy>Francisco Rech</cp:lastModifiedBy>
  <cp:revision>2</cp:revision>
  <dcterms:created xsi:type="dcterms:W3CDTF">2013-01-27T09:14:16Z</dcterms:created>
  <dcterms:modified xsi:type="dcterms:W3CDTF">2026-10-24T05:37:42Z</dcterms:modified>
  <cp:category/>
</cp:coreProperties>
</file>